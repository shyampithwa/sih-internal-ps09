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4_COMP_C_GHANASHYAM_PITHAWA ." userId="1b0caad0ea3e5d70" providerId="LiveId" clId="{04A9C6D2-E01A-4083-9D90-9836AAA6E468}"/>
    <pc:docChg chg="modSld">
      <pc:chgData name="24_COMP_C_GHANASHYAM_PITHAWA ." userId="1b0caad0ea3e5d70" providerId="LiveId" clId="{04A9C6D2-E01A-4083-9D90-9836AAA6E468}" dt="2026-08-18T02:50:33.472" v="14" actId="20577"/>
      <pc:docMkLst>
        <pc:docMk/>
      </pc:docMkLst>
      <pc:sldChg chg="modSp mod">
        <pc:chgData name="24_COMP_C_GHANASHYAM_PITHAWA ." userId="1b0caad0ea3e5d70" providerId="LiveId" clId="{04A9C6D2-E01A-4083-9D90-9836AAA6E468}" dt="2026-08-18T02:50:33.472" v="14" actId="20577"/>
        <pc:sldMkLst>
          <pc:docMk/>
          <pc:sldMk cId="0" sldId="290"/>
        </pc:sldMkLst>
        <pc:spChg chg="mod">
          <ac:chgData name="24_COMP_C_GHANASHYAM_PITHAWA ." userId="1b0caad0ea3e5d70" providerId="LiveId" clId="{04A9C6D2-E01A-4083-9D90-9836AAA6E468}" dt="2026-08-18T02:50:33.472" v="14" actId="20577"/>
          <ac:spMkLst>
            <pc:docMk/>
            <pc:sldMk cId="0" sldId="290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150990" cy="2181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1400" b="1" dirty="0"/>
              <a:t>Design/Development of an Efficient Energy Storage System (ESS) to integrate intermittent renewable energy sources and stabilize the grid.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1400" b="1" dirty="0"/>
              <a:t>Renewable / Sustainable Energy</a:t>
            </a:r>
            <a:r>
              <a:rPr lang="en-IN" sz="1200" b="1" dirty="0"/>
              <a:t> 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Team Name :Gypsies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350000" y="0"/>
            <a:ext cx="8330000" cy="1143000"/>
          </a:xfrm>
        </p:spPr>
        <p:txBody>
          <a:bodyPr/>
          <a:lstStyle/>
          <a:p>
            <a:pPr eaLnBrk="1" hangingPunct="1"/>
            <a:b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000" b="1" dirty="0"/>
              <a:t>Adaptive Mathematical Optimization Framework for Grid-Stable ESS Operation</a:t>
            </a:r>
            <a:br>
              <a:rPr lang="en-IN" sz="2000" dirty="0"/>
            </a:br>
            <a:endParaRPr lang="en-US" sz="2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504482"/>
            <a:ext cx="7000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500" b="1" dirty="0"/>
              <a:t>Proposed Solution</a:t>
            </a:r>
          </a:p>
          <a:p>
            <a:pPr lvl="0"/>
            <a:r>
              <a:rPr lang="en-IN" sz="1500" b="1" dirty="0"/>
              <a:t>1. Real-Time ESS Monitoring</a:t>
            </a:r>
            <a:br>
              <a:rPr lang="en-IN" sz="1500" dirty="0"/>
            </a:br>
            <a:r>
              <a:rPr lang="en-IN" sz="1500" dirty="0"/>
              <a:t>IoT continuously collects renewable generation, load, grid conditions and ESS parameters such as SOC, SOH, DOD, voltage and temperature. </a:t>
            </a:r>
          </a:p>
          <a:p>
            <a:pPr lvl="0"/>
            <a:r>
              <a:rPr lang="en-IN" sz="1500" b="1" dirty="0"/>
              <a:t>2. Multi-Layer Mathematical Analysis</a:t>
            </a:r>
            <a:br>
              <a:rPr lang="en-IN" sz="1500" dirty="0"/>
            </a:br>
            <a:r>
              <a:rPr lang="en-IN" sz="1500" dirty="0"/>
              <a:t>State Estimation derives SOC (coulomb counting), SOH/EFC and R_int from raw V/I/T; Performance Estimation gives available charge/discharge power; Grid Analysis tracks renewable-load balance and frequency deviation (Δf). </a:t>
            </a:r>
          </a:p>
          <a:p>
            <a:pPr lvl="0"/>
            <a:r>
              <a:rPr lang="en-IN" sz="1500" b="1" dirty="0"/>
              <a:t>3. Optimal &amp; Adaptive ESS Operation</a:t>
            </a:r>
            <a:br>
              <a:rPr lang="en-IN" sz="1500" dirty="0"/>
            </a:br>
            <a:r>
              <a:rPr lang="en-IN" sz="1500" dirty="0"/>
              <a:t>A constrained linear-programming engine takes current SOC, available power, energy balance, frequency deviation and forecasted load/renewables, and maximizes Profit = Revenue − Energy Cost − Degradation Cost subject to SOC, power and thermal limits — outputting Charge, Discharge, Hold, Frequency Support or Market Participation. </a:t>
            </a:r>
          </a:p>
          <a:p>
            <a:pPr lvl="0"/>
            <a:r>
              <a:rPr lang="en-IN" sz="1500" b="1" dirty="0"/>
              <a:t>4. What Makes Our Approach Different</a:t>
            </a:r>
            <a:br>
              <a:rPr lang="en-IN" sz="1500" dirty="0"/>
            </a:br>
            <a:r>
              <a:rPr lang="en-IN" sz="1500" dirty="0"/>
              <a:t>Instead of relying only on fixed thresholds or a single optimization objective, our framework focuses on variable-impact analysis + ESS state + grid stability + degradation, allowing the optimal operating strategy to evolve with the system.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Gypsies</a:t>
            </a:r>
            <a:endParaRPr lang="en-IN" sz="16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0" name="Picture 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500" y="1504482"/>
            <a:ext cx="3319000" cy="48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1" y="1392174"/>
            <a:ext cx="647945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Technology Stack:</a:t>
            </a:r>
          </a:p>
          <a:p>
            <a:pPr lvl="0"/>
            <a:r>
              <a:rPr lang="en-IN" sz="1400" b="1" dirty="0"/>
              <a:t>C++ </a:t>
            </a:r>
            <a:r>
              <a:rPr lang="en-IN" sz="1400" dirty="0"/>
              <a:t>— Core mathematical model, numerical computation &amp; optimization     engine </a:t>
            </a:r>
          </a:p>
          <a:p>
            <a:pPr lvl="0"/>
            <a:r>
              <a:rPr lang="en-IN" sz="1400" b="1" dirty="0" err="1"/>
              <a:t>Supabase</a:t>
            </a:r>
            <a:r>
              <a:rPr lang="en-IN" sz="1400" dirty="0"/>
              <a:t> — Storage of real-time and historical ESS/grid data </a:t>
            </a:r>
          </a:p>
          <a:p>
            <a:pPr lvl="0"/>
            <a:r>
              <a:rPr lang="en-IN" sz="1400" b="1" dirty="0"/>
              <a:t>IoT / Sensors </a:t>
            </a:r>
            <a:r>
              <a:rPr lang="en-IN" sz="1400" dirty="0"/>
              <a:t>— Collection of BESS, renewable and grid parameters </a:t>
            </a:r>
          </a:p>
          <a:p>
            <a:pPr lvl="0"/>
            <a:r>
              <a:rPr lang="en-IN" sz="1400" b="1" dirty="0"/>
              <a:t>Backend API </a:t>
            </a:r>
            <a:r>
              <a:rPr lang="en-IN" sz="1400" dirty="0"/>
              <a:t>— Node.js layer connecting the C++ engine, MongoDB and dashboard </a:t>
            </a:r>
          </a:p>
          <a:p>
            <a:pPr lvl="0"/>
            <a:r>
              <a:rPr lang="en-IN" sz="1400" b="1" dirty="0"/>
              <a:t>Web Dashboard </a:t>
            </a:r>
            <a:r>
              <a:rPr lang="en-IN" sz="1400" dirty="0"/>
              <a:t>— Real-time visualization, monitoring and recommended ESS operation </a:t>
            </a:r>
          </a:p>
          <a:p>
            <a:pPr lvl="0"/>
            <a:r>
              <a:rPr lang="en-IN" sz="1400" b="1" dirty="0"/>
              <a:t>BESS/PCS Interface </a:t>
            </a:r>
            <a:r>
              <a:rPr lang="en-IN" sz="1400" dirty="0"/>
              <a:t>— Communication of optimized charge/discharge setpoints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Gypsies</a:t>
            </a:r>
            <a:endParaRPr lang="en-IN" sz="16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BABA9C-0AB7-0856-898D-66AAF48F4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95" y="1243781"/>
            <a:ext cx="4987765" cy="2807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59DE5B-86D9-24BB-DB66-D71FF37B9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50890"/>
            <a:ext cx="10760375" cy="2119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Gypsies</a:t>
            </a:r>
            <a:endParaRPr lang="en-IN" sz="16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10BA4A-5B1B-3A2C-AB70-CE4433020DB7}"/>
              </a:ext>
            </a:extLst>
          </p:cNvPr>
          <p:cNvSpPr txBox="1"/>
          <p:nvPr/>
        </p:nvSpPr>
        <p:spPr>
          <a:xfrm>
            <a:off x="796413" y="1582994"/>
            <a:ext cx="430652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Technical Feasibility: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Real-time data: Grid, renewable, load and ESS parameters can be obtained through IoT/BESS telemetry.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Computationally feasible: C++ performs the mathematical analysis and optimization efficiently.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Prototype-ready: Initial validation can be performed using simulation + historical data before real BESS integration.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Modular architecture: C++ engine, backend, database and dashboard can be developed and tested independently</a:t>
            </a:r>
            <a:r>
              <a:rPr lang="en-IN" dirty="0"/>
              <a:t>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E302DE-21A1-C5EE-F85E-1A80C6CD9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122891"/>
              </p:ext>
            </p:extLst>
          </p:nvPr>
        </p:nvGraphicFramePr>
        <p:xfrm>
          <a:off x="5555226" y="1425678"/>
          <a:ext cx="5840361" cy="428012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907038">
                  <a:extLst>
                    <a:ext uri="{9D8B030D-6E8A-4147-A177-3AD203B41FA5}">
                      <a16:colId xmlns:a16="http://schemas.microsoft.com/office/drawing/2014/main" val="2238601443"/>
                    </a:ext>
                  </a:extLst>
                </a:gridCol>
                <a:gridCol w="2933323">
                  <a:extLst>
                    <a:ext uri="{9D8B030D-6E8A-4147-A177-3AD203B41FA5}">
                      <a16:colId xmlns:a16="http://schemas.microsoft.com/office/drawing/2014/main" val="4164771242"/>
                    </a:ext>
                  </a:extLst>
                </a:gridCol>
              </a:tblGrid>
              <a:tr h="43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Challenge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671401"/>
                  </a:ext>
                </a:extLst>
              </a:tr>
              <a:tr h="43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live BESS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Simulation + historical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08005"/>
                  </a:ext>
                </a:extLst>
              </a:tr>
              <a:tr h="43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Noisy/incomplete sensor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filtering &amp;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109386"/>
                  </a:ext>
                </a:extLst>
              </a:tr>
              <a:tr h="43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 uncertainty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 + simulation-based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415987"/>
                  </a:ext>
                </a:extLst>
              </a:tr>
              <a:tr h="43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Optimization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Bounded &amp; efficient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523295"/>
                  </a:ext>
                </a:extLst>
              </a:tr>
              <a:tr h="43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BMS/PCS compatibility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interfaces + simulator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56958"/>
                  </a:ext>
                </a:extLst>
              </a:tr>
              <a:tr h="43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Unsafe operating decisions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Hard SOC, power &amp; temperature 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864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94786" y="1400472"/>
            <a:ext cx="594702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Impact:</a:t>
            </a:r>
            <a:endParaRPr lang="en-IN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Moves beyond fixed BMS/EMS operating rules by </a:t>
            </a:r>
            <a:r>
              <a:rPr lang="en-IN" b="1" dirty="0" err="1"/>
              <a:t>analyzing</a:t>
            </a:r>
            <a:r>
              <a:rPr lang="en-IN" b="1" dirty="0"/>
              <a:t> grid balance (P_balance), frequency deviation (Δf), ESS state (SOC/SOH), and control variables before selecting Charge, Discharge or Hold.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Adapts the ESS decision in real time using forecasted load, renewables and frequency deviation, while a degradation-cost-aware LP objective protects battery health alongside profit.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Improves decision quality and extends usable battery life over time by using real-time + historical data to refine variable-impact analysis and future ESS operating decisions.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Gypsies</a:t>
            </a:r>
            <a:endParaRPr lang="en-IN" sz="16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731DF-5DB3-D3B0-F4CF-EA9C4C2D8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131" y="1059580"/>
            <a:ext cx="4459880" cy="472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67066"/>
            <a:ext cx="93853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b="1" dirty="0"/>
              <a:t>Key Research References</a:t>
            </a:r>
          </a:p>
          <a:p>
            <a:r>
              <a:rPr lang="en-IN" sz="2800" b="1" dirty="0"/>
              <a:t>[1] </a:t>
            </a:r>
            <a:r>
              <a:rPr lang="en-IN" sz="2800" b="1" dirty="0" err="1"/>
              <a:t>Collath</a:t>
            </a:r>
            <a:r>
              <a:rPr lang="en-IN" sz="2800" b="1" dirty="0"/>
              <a:t> et al. (2022) — Aging-aware BESS operation</a:t>
            </a:r>
            <a:br>
              <a:rPr lang="en-IN" sz="2800" b="1" dirty="0"/>
            </a:br>
            <a:r>
              <a:rPr lang="en-IN" sz="2800" b="1" dirty="0"/>
              <a:t>[2] </a:t>
            </a:r>
            <a:r>
              <a:rPr lang="en-IN" sz="2800" b="1" i="1" dirty="0"/>
              <a:t>RSER</a:t>
            </a:r>
            <a:r>
              <a:rPr lang="en-IN" sz="2800" b="1" dirty="0"/>
              <a:t> (2022) — BESS modelling &amp; optimal energy management</a:t>
            </a:r>
            <a:br>
              <a:rPr lang="en-IN" sz="2800" b="1" dirty="0"/>
            </a:br>
            <a:r>
              <a:rPr lang="en-IN" sz="2800" b="1" dirty="0"/>
              <a:t>[3] Rana et al. (2023) — ESS applications in power grids</a:t>
            </a:r>
            <a:br>
              <a:rPr lang="en-IN" sz="2800" b="1" dirty="0"/>
            </a:br>
            <a:r>
              <a:rPr lang="en-IN" sz="2800" b="1" dirty="0"/>
              <a:t>[4] </a:t>
            </a:r>
            <a:r>
              <a:rPr lang="en-IN" sz="2800" b="1" i="1" dirty="0"/>
              <a:t>JPS</a:t>
            </a:r>
            <a:r>
              <a:rPr lang="en-IN" sz="2800" b="1" dirty="0"/>
              <a:t> (2023) — Variable renewable integration &amp; BESS</a:t>
            </a:r>
            <a:br>
              <a:rPr lang="en-IN" sz="2800" b="1" dirty="0"/>
            </a:br>
            <a:r>
              <a:rPr lang="en-IN" sz="2800" b="1" dirty="0"/>
              <a:t>[5] </a:t>
            </a:r>
            <a:r>
              <a:rPr lang="en-IN" sz="2800" b="1" i="1" dirty="0"/>
              <a:t>Energy Reports</a:t>
            </a:r>
            <a:r>
              <a:rPr lang="en-IN" sz="2800" b="1" dirty="0"/>
              <a:t> (2025) — Grid-connected ESS management</a:t>
            </a:r>
            <a:br>
              <a:rPr lang="en-IN" sz="2800" b="1" dirty="0"/>
            </a:br>
            <a:r>
              <a:rPr lang="en-IN" sz="2800" b="1" dirty="0"/>
              <a:t>[6] </a:t>
            </a:r>
            <a:r>
              <a:rPr lang="en-IN" sz="2800" b="1" i="1" dirty="0"/>
              <a:t>JES</a:t>
            </a:r>
            <a:r>
              <a:rPr lang="en-IN" sz="2800" b="1" dirty="0"/>
              <a:t> (2026) — ESS optimization &amp; microgrid stability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Gypsies</a:t>
            </a:r>
            <a:endParaRPr lang="en-IN" sz="16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7638</TotalTime>
  <Words>680</Words>
  <Application>Microsoft Office PowerPoint</Application>
  <PresentationFormat>Widescreen</PresentationFormat>
  <Paragraphs>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Adaptive Mathematical Optimization Framework for Grid-Stable ESS Operation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24_COMP_C_GHANASHYAM_PITHAWA .</cp:lastModifiedBy>
  <cp:revision>150</cp:revision>
  <dcterms:created xsi:type="dcterms:W3CDTF">2013-12-12T18:46:50Z</dcterms:created>
  <dcterms:modified xsi:type="dcterms:W3CDTF">2026-08-18T02:50:43Z</dcterms:modified>
  <cp:category/>
</cp:coreProperties>
</file>